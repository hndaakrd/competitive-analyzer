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Noto Sans" panose="020B0502040504020204" pitchFamily="34" charset="0"/>
      <p:regular r:id="rId16"/>
    </p:embeddedFont>
    <p:embeddedFont>
      <p:font typeface="Noto Sans Bold" panose="020B0604020202020204" charset="0"/>
      <p:regular r:id="rId17"/>
    </p:embeddedFont>
    <p:embeddedFont>
      <p:font typeface="Sora Medium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549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26262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404045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Competitor Analyzer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059632"/>
            <a:ext cx="472276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AI-powered Python tool for tracking keyword trends and competitor visibility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96119" y="328582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Soumya Porwal</a:t>
            </a: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23BMV1067</a:t>
            </a:r>
            <a:endParaRPr 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Rachit Pratap Singh</a:t>
            </a: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23BME1037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26262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726" y="378693"/>
            <a:ext cx="3289474" cy="43860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11882"/>
            <a:ext cx="4722763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The Challenge</a:t>
            </a:r>
            <a:endParaRPr lang="en-US" sz="2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1054001"/>
            <a:ext cx="4722763" cy="128193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0895" y="1212577"/>
            <a:ext cx="43294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Tracking at Scale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730895" y="1512987"/>
            <a:ext cx="432941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Digital marketers struggle to track competitor movements across search — the volume of data is simply too large to monitor manually.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473300"/>
            <a:ext cx="4722763" cy="10604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0895" y="2631877"/>
            <a:ext cx="43294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Manual Monitoring Fails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730895" y="2932286"/>
            <a:ext cx="432941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Manual keyword monitoring is time-consuming and error-prone, leaving teams reactive rather than proactive.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3671143"/>
            <a:ext cx="4722763" cy="10604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30895" y="3829720"/>
            <a:ext cx="432941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Real-Time Insights Gap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730895" y="4130129"/>
            <a:ext cx="432941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market insights are critical for competitive strategy, yet they remain hard to access without dedicated automation.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What is Competitor Analyzer?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917874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Competitor Analyzer is an automated Python application that brings competitive intelligence into one unified workflow.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474988" y="2499047"/>
            <a:ext cx="5177582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Google Trends Integration:</a:t>
            </a: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Continuously tracks keyword trends using live pytrends data — no manual lookups required.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Competitor Visibility Analysis:</a:t>
            </a: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Scrapes and ranks search results to show how visible competitors are per keyword.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AI-Powered Chat Interface:</a:t>
            </a: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Ask natural language questions about trends and competitors and receive instant, context-aware answers.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692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Core Features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53430"/>
            <a:ext cx="4004965" cy="1610692"/>
          </a:xfrm>
          <a:prstGeom prst="roundRect">
            <a:avLst>
              <a:gd name="adj" fmla="val 1320"/>
            </a:avLst>
          </a:prstGeom>
          <a:solidFill>
            <a:srgbClr val="26262B"/>
          </a:solidFill>
          <a:ln/>
        </p:spPr>
      </p:sp>
      <p:sp>
        <p:nvSpPr>
          <p:cNvPr id="4" name="Shape 2"/>
          <p:cNvSpPr/>
          <p:nvPr/>
        </p:nvSpPr>
        <p:spPr>
          <a:xfrm>
            <a:off x="637877" y="1395189"/>
            <a:ext cx="425276" cy="425276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856" y="1512094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1962224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Google Trends Integration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268736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Real-time keyword trend data via </a:t>
            </a:r>
            <a:r>
              <a:rPr lang="en-US" sz="11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pytrends</a:t>
            </a: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live market signals at your fingertips.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253430"/>
            <a:ext cx="4005039" cy="1610692"/>
          </a:xfrm>
          <a:prstGeom prst="roundRect">
            <a:avLst>
              <a:gd name="adj" fmla="val 1320"/>
            </a:avLst>
          </a:prstGeom>
          <a:solidFill>
            <a:srgbClr val="26262B"/>
          </a:solidFill>
          <a:ln/>
        </p:spPr>
      </p:sp>
      <p:sp>
        <p:nvSpPr>
          <p:cNvPr id="9" name="Shape 6"/>
          <p:cNvSpPr/>
          <p:nvPr/>
        </p:nvSpPr>
        <p:spPr>
          <a:xfrm>
            <a:off x="4784601" y="1395189"/>
            <a:ext cx="425276" cy="425276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1580" y="1512094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84601" y="1962224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Web Scraping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784601" y="2268736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Extract competitor presence and search rankings using </a:t>
            </a:r>
            <a:r>
              <a:rPr lang="en-US" sz="11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Selenium</a:t>
            </a: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+ </a:t>
            </a:r>
            <a:r>
              <a:rPr lang="en-US" sz="11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BeautifulSoup</a:t>
            </a: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6119" y="3005882"/>
            <a:ext cx="4004965" cy="1610692"/>
          </a:xfrm>
          <a:prstGeom prst="roundRect">
            <a:avLst>
              <a:gd name="adj" fmla="val 1320"/>
            </a:avLst>
          </a:prstGeom>
          <a:solidFill>
            <a:srgbClr val="26262B"/>
          </a:solidFill>
          <a:ln/>
        </p:spPr>
      </p:sp>
      <p:sp>
        <p:nvSpPr>
          <p:cNvPr id="14" name="Shape 10"/>
          <p:cNvSpPr/>
          <p:nvPr/>
        </p:nvSpPr>
        <p:spPr>
          <a:xfrm>
            <a:off x="637877" y="3147640"/>
            <a:ext cx="425276" cy="425276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4856" y="3264545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7877" y="3714676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Data Visualization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7877" y="4021187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Interactive, publication-ready graphs built with </a:t>
            </a:r>
            <a:r>
              <a:rPr lang="en-US" sz="11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&amp; </a:t>
            </a:r>
            <a:r>
              <a:rPr lang="en-US" sz="110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Plotly</a:t>
            </a: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42842" y="3005882"/>
            <a:ext cx="4005039" cy="1610692"/>
          </a:xfrm>
          <a:prstGeom prst="roundRect">
            <a:avLst>
              <a:gd name="adj" fmla="val 1320"/>
            </a:avLst>
          </a:prstGeom>
          <a:solidFill>
            <a:srgbClr val="26262B"/>
          </a:solidFill>
          <a:ln/>
        </p:spPr>
      </p:sp>
      <p:sp>
        <p:nvSpPr>
          <p:cNvPr id="19" name="Shape 14"/>
          <p:cNvSpPr/>
          <p:nvPr/>
        </p:nvSpPr>
        <p:spPr>
          <a:xfrm>
            <a:off x="4784601" y="3147640"/>
            <a:ext cx="425276" cy="425276"/>
          </a:xfrm>
          <a:prstGeom prst="ellipse">
            <a:avLst/>
          </a:prstGeom>
          <a:solidFill>
            <a:srgbClr val="B380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1580" y="3264545"/>
            <a:ext cx="191319" cy="1913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784601" y="3714676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AI Chat Interface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784601" y="4021187"/>
            <a:ext cx="37215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Ask natural language questions about trends and competitors — powered by an embedded AI model.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Tech Stack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297311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Built for Developers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49190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library in the stack was chosen for reliability, community support, and ease of integration — making the tool straightforward to extend or customize.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660154"/>
            <a:ext cx="3986733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Python 3.9–3.11</a:t>
            </a:r>
            <a:r>
              <a:rPr lang="en-US" sz="5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broad compatibility and modern language features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Gradio</a:t>
            </a:r>
            <a:r>
              <a:rPr lang="en-US" sz="5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rapid deployment of the AI chat UI with minimal boilerplate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PyTrends &amp; SerpAPI</a:t>
            </a:r>
            <a:r>
              <a:rPr lang="en-US" sz="5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authoritative, structured data sources for search intelligence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Selenium &amp; BeautifulSoup</a:t>
            </a:r>
            <a:r>
              <a:rPr lang="en-US" sz="5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robust scraping pipeline for live competitor data</a:t>
            </a:r>
            <a:endParaRPr lang="en-US" sz="550" dirty="0"/>
          </a:p>
          <a:p>
            <a:pPr marL="111760" indent="-111760" algn="l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Matplotlib &amp; Plotly</a:t>
            </a:r>
            <a:r>
              <a:rPr lang="en-US" sz="5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static and interactive chart generation in one workflow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744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Key Outputs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73944"/>
            <a:ext cx="1104900" cy="6828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533948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Trend Line Graphs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2840459"/>
            <a:ext cx="190500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Keyword trend line graphs showing growth patterns over time — visualize momentum at a glance.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298" y="1673944"/>
            <a:ext cx="1104900" cy="6828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533948"/>
            <a:ext cx="1905074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Competitor Rankings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061915"/>
            <a:ext cx="19050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Top 10 competitors ranked per keyword, so you always know who occupies the most valuable search real estate.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553" y="1673944"/>
            <a:ext cx="1104900" cy="6828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53394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Growth Predictions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2840459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Growth rate predictions using Linear Regression — turn historical data into forward-looking strategy.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2807" y="1673944"/>
            <a:ext cx="1104900" cy="6828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533948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AI Summaries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2840459"/>
            <a:ext cx="190507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AI-generated summaries that answer strategic questions directly, reducing time to insight.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5929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Quick Setup</a:t>
            </a:r>
            <a:endParaRPr lang="en-US" sz="2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78682"/>
            <a:ext cx="2673921" cy="26739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50431" y="983828"/>
            <a:ext cx="520213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Up and Running in Minutes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450431" y="1261542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01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50431" y="1439168"/>
            <a:ext cx="5202138" cy="14288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7" name="Text 4"/>
          <p:cNvSpPr/>
          <p:nvPr/>
        </p:nvSpPr>
        <p:spPr>
          <a:xfrm>
            <a:off x="3450431" y="1524223"/>
            <a:ext cx="520213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Install Prerequisites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50431" y="1790700"/>
            <a:ext cx="520213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Install </a:t>
            </a:r>
            <a:r>
              <a:rPr lang="en-US" sz="8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3.9–3.11</a:t>
            </a: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</a:t>
            </a:r>
            <a:r>
              <a:rPr lang="en-US" sz="8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ChromeDriver</a:t>
            </a: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matching your browser version.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3450431" y="2127721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450431" y="2294111"/>
            <a:ext cx="5202138" cy="14288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1" name="Text 8"/>
          <p:cNvSpPr/>
          <p:nvPr/>
        </p:nvSpPr>
        <p:spPr>
          <a:xfrm>
            <a:off x="3450431" y="2390403"/>
            <a:ext cx="520213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Create Virtual Environment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450431" y="2656880"/>
            <a:ext cx="520213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Isolate dependencies: </a:t>
            </a:r>
            <a:r>
              <a:rPr lang="en-US" sz="8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then activate it.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450431" y="2993901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03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450431" y="3148980"/>
            <a:ext cx="5202138" cy="14288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5" name="Text 12"/>
          <p:cNvSpPr/>
          <p:nvPr/>
        </p:nvSpPr>
        <p:spPr>
          <a:xfrm>
            <a:off x="3450431" y="3256583"/>
            <a:ext cx="520213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Install Dependencies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450431" y="3523059"/>
            <a:ext cx="520213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 </a:t>
            </a:r>
            <a:r>
              <a:rPr lang="en-US" sz="8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pull in the full stack automatically.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450431" y="3860081"/>
            <a:ext cx="225921" cy="141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04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50431" y="4003923"/>
            <a:ext cx="5202138" cy="14288"/>
          </a:xfrm>
          <a:prstGeom prst="rect">
            <a:avLst/>
          </a:prstGeom>
          <a:solidFill>
            <a:srgbClr val="B380FF"/>
          </a:solidFill>
          <a:ln/>
        </p:spPr>
      </p:sp>
      <p:sp>
        <p:nvSpPr>
          <p:cNvPr id="19" name="Text 16"/>
          <p:cNvSpPr/>
          <p:nvPr/>
        </p:nvSpPr>
        <p:spPr>
          <a:xfrm>
            <a:off x="3450431" y="4122762"/>
            <a:ext cx="5202138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Launch the App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450431" y="4389239"/>
            <a:ext cx="5202138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Run the application and access the </a:t>
            </a:r>
            <a:r>
              <a:rPr lang="en-US" sz="850" dirty="0">
                <a:solidFill>
                  <a:srgbClr val="E0D6DE"/>
                </a:solidFill>
                <a:highlight>
                  <a:srgbClr val="14141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Gradio</a:t>
            </a:r>
            <a:r>
              <a:rPr lang="en-US" sz="8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interface in your browser — ready to query.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26262B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71" y="366936"/>
            <a:ext cx="3307184" cy="44096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427583"/>
            <a:ext cx="472276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Perfect For</a:t>
            </a:r>
            <a:endParaRPr lang="en-US" sz="2350" dirty="0"/>
          </a:p>
        </p:txBody>
      </p:sp>
      <p:sp>
        <p:nvSpPr>
          <p:cNvPr id="5" name="Shape 2"/>
          <p:cNvSpPr/>
          <p:nvPr/>
        </p:nvSpPr>
        <p:spPr>
          <a:xfrm>
            <a:off x="496119" y="965299"/>
            <a:ext cx="4722763" cy="859185"/>
          </a:xfrm>
          <a:prstGeom prst="roundRect">
            <a:avLst>
              <a:gd name="adj" fmla="val 2127"/>
            </a:avLst>
          </a:prstGeom>
          <a:solidFill>
            <a:srgbClr val="26262B"/>
          </a:solidFill>
          <a:ln/>
        </p:spPr>
      </p:sp>
      <p:sp>
        <p:nvSpPr>
          <p:cNvPr id="6" name="Text 3"/>
          <p:cNvSpPr/>
          <p:nvPr/>
        </p:nvSpPr>
        <p:spPr>
          <a:xfrm>
            <a:off x="617934" y="1087115"/>
            <a:ext cx="44791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Digital Marketers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17934" y="1340272"/>
            <a:ext cx="447913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Track SEO performance and spot competitor shifts before they impact your rankings.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96119" y="1929110"/>
            <a:ext cx="4722763" cy="859185"/>
          </a:xfrm>
          <a:prstGeom prst="roundRect">
            <a:avLst>
              <a:gd name="adj" fmla="val 2127"/>
            </a:avLst>
          </a:prstGeom>
          <a:solidFill>
            <a:srgbClr val="26262B"/>
          </a:solidFill>
          <a:ln/>
        </p:spPr>
      </p:sp>
      <p:sp>
        <p:nvSpPr>
          <p:cNvPr id="9" name="Text 6"/>
          <p:cNvSpPr/>
          <p:nvPr/>
        </p:nvSpPr>
        <p:spPr>
          <a:xfrm>
            <a:off x="617934" y="2050926"/>
            <a:ext cx="44791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Content Strategists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17934" y="2304083"/>
            <a:ext cx="447913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Identify trending topics early and build content plans backed by real search data.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96119" y="2892921"/>
            <a:ext cx="4722763" cy="859185"/>
          </a:xfrm>
          <a:prstGeom prst="roundRect">
            <a:avLst>
              <a:gd name="adj" fmla="val 2127"/>
            </a:avLst>
          </a:prstGeom>
          <a:solidFill>
            <a:srgbClr val="26262B"/>
          </a:solidFill>
          <a:ln/>
        </p:spPr>
      </p:sp>
      <p:sp>
        <p:nvSpPr>
          <p:cNvPr id="12" name="Text 9"/>
          <p:cNvSpPr/>
          <p:nvPr/>
        </p:nvSpPr>
        <p:spPr>
          <a:xfrm>
            <a:off x="617934" y="3014737"/>
            <a:ext cx="44791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Businesses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17934" y="3267894"/>
            <a:ext cx="447913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Monitor the competitive landscape continuously — not just when you remember to check.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96119" y="3856732"/>
            <a:ext cx="4722763" cy="859185"/>
          </a:xfrm>
          <a:prstGeom prst="roundRect">
            <a:avLst>
              <a:gd name="adj" fmla="val 2127"/>
            </a:avLst>
          </a:prstGeom>
          <a:solidFill>
            <a:srgbClr val="26262B"/>
          </a:solidFill>
          <a:ln/>
        </p:spPr>
      </p:sp>
      <p:sp>
        <p:nvSpPr>
          <p:cNvPr id="15" name="Text 12"/>
          <p:cNvSpPr/>
          <p:nvPr/>
        </p:nvSpPr>
        <p:spPr>
          <a:xfrm>
            <a:off x="617934" y="3978548"/>
            <a:ext cx="447913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SEO Analysts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17934" y="4231704"/>
            <a:ext cx="447913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Optimize keyword strategies with growth predictions and competitor visibility scores.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008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97B8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Get Started Today</a:t>
            </a:r>
            <a:endParaRPr lang="en-US" sz="1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702841"/>
            <a:ext cx="8151763" cy="36682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24067" y="897937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Clone Repo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724067" y="1181089"/>
            <a:ext cx="1426538" cy="26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Copy the Competitor Analyzer code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134929" y="3649117"/>
            <a:ext cx="1434376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Explore Trends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134929" y="3932270"/>
            <a:ext cx="1434376" cy="26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Analyze industry keyword patterns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30115" y="870503"/>
            <a:ext cx="1426538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AI Insights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30115" y="1153655"/>
            <a:ext cx="1426538" cy="26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Chat to surface competitor signals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40977" y="3649117"/>
            <a:ext cx="1426539" cy="2204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Decide Faster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940977" y="3932270"/>
            <a:ext cx="1426539" cy="2672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9000"/>
              </a:lnSpc>
              <a:buNone/>
            </a:pPr>
            <a:r>
              <a:rPr lang="en-US" sz="11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 on data-driven recommendations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561</Words>
  <Application>Microsoft Office PowerPoint</Application>
  <PresentationFormat>On-screen Show (16:9)</PresentationFormat>
  <Paragraphs>83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Sora Light</vt:lpstr>
      <vt:lpstr>Noto Sans Bold</vt:lpstr>
      <vt:lpstr>Arial</vt:lpstr>
      <vt:lpstr>Sora Medium</vt:lpstr>
      <vt:lpstr>Consolas</vt:lpstr>
      <vt:lpstr>Noto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Soumya Porwal</dc:creator>
  <cp:lastModifiedBy>Soumya Porwal</cp:lastModifiedBy>
  <cp:revision>2</cp:revision>
  <dcterms:created xsi:type="dcterms:W3CDTF">2026-07-31T08:04:55Z</dcterms:created>
  <dcterms:modified xsi:type="dcterms:W3CDTF">2026-09-09T18:47:25Z</dcterms:modified>
</cp:coreProperties>
</file>